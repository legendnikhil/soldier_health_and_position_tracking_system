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anva Sans Bold" panose="020B0604020202020204" charset="0"/>
      <p:regular r:id="rId12"/>
    </p:embeddedFont>
    <p:embeddedFont>
      <p:font typeface="Montserrat Classic Bold" panose="020B0604020202020204" charset="0"/>
      <p:regular r:id="rId13"/>
    </p:embeddedFont>
    <p:embeddedFont>
      <p:font typeface="Noto Serif" panose="02020600060500020200" pitchFamily="18" charset="0"/>
      <p:regular r:id="rId14"/>
    </p:embeddedFont>
    <p:embeddedFont>
      <p:font typeface="Noto Serif Bold" panose="02020800060500020200" charset="0"/>
      <p:regular r:id="rId15"/>
    </p:embeddedFont>
    <p:embeddedFont>
      <p:font typeface="Noto Serif Ethiopic" panose="020B0604020202020204" charset="0"/>
      <p:regular r:id="rId16"/>
    </p:embeddedFont>
    <p:embeddedFont>
      <p:font typeface="Oswald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2" d="100"/>
          <a:sy n="72" d="100"/>
        </p:scale>
        <p:origin x="576" y="-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rot="9783557">
            <a:off x="15042907" y="5959172"/>
            <a:ext cx="7629294" cy="7828566"/>
          </a:xfrm>
          <a:custGeom>
            <a:avLst/>
            <a:gdLst/>
            <a:ahLst/>
            <a:cxnLst/>
            <a:rect l="l" t="t" r="r" b="b"/>
            <a:pathLst>
              <a:path w="7629294" h="7828566">
                <a:moveTo>
                  <a:pt x="0" y="0"/>
                </a:moveTo>
                <a:lnTo>
                  <a:pt x="7629294" y="0"/>
                </a:lnTo>
                <a:lnTo>
                  <a:pt x="7629294" y="7828567"/>
                </a:lnTo>
                <a:lnTo>
                  <a:pt x="0" y="78285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4137830" y="-5091479"/>
            <a:ext cx="9022634" cy="9258300"/>
          </a:xfrm>
          <a:custGeom>
            <a:avLst/>
            <a:gdLst/>
            <a:ahLst/>
            <a:cxnLst/>
            <a:rect l="l" t="t" r="r" b="b"/>
            <a:pathLst>
              <a:path w="9022634" h="9258300">
                <a:moveTo>
                  <a:pt x="0" y="0"/>
                </a:moveTo>
                <a:lnTo>
                  <a:pt x="9022635" y="0"/>
                </a:lnTo>
                <a:lnTo>
                  <a:pt x="9022635" y="9258300"/>
                </a:lnTo>
                <a:lnTo>
                  <a:pt x="0" y="92583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2632523" y="2936120"/>
            <a:ext cx="13022953" cy="4414760"/>
            <a:chOff x="0" y="0"/>
            <a:chExt cx="17363938" cy="5886347"/>
          </a:xfrm>
        </p:grpSpPr>
        <p:grpSp>
          <p:nvGrpSpPr>
            <p:cNvPr id="6" name="Group 6"/>
            <p:cNvGrpSpPr/>
            <p:nvPr/>
          </p:nvGrpSpPr>
          <p:grpSpPr>
            <a:xfrm>
              <a:off x="0" y="0"/>
              <a:ext cx="17363938" cy="5886347"/>
              <a:chOff x="0" y="0"/>
              <a:chExt cx="2514944" cy="852562"/>
            </a:xfrm>
          </p:grpSpPr>
          <p:sp>
            <p:nvSpPr>
              <p:cNvPr id="7" name="Freeform 7"/>
              <p:cNvSpPr/>
              <p:nvPr/>
            </p:nvSpPr>
            <p:spPr>
              <a:xfrm>
                <a:off x="0" y="0"/>
                <a:ext cx="2514944" cy="852562"/>
              </a:xfrm>
              <a:custGeom>
                <a:avLst/>
                <a:gdLst/>
                <a:ahLst/>
                <a:cxnLst/>
                <a:rect l="l" t="t" r="r" b="b"/>
                <a:pathLst>
                  <a:path w="2514944" h="852562">
                    <a:moveTo>
                      <a:pt x="0" y="0"/>
                    </a:moveTo>
                    <a:lnTo>
                      <a:pt x="2514944" y="0"/>
                    </a:lnTo>
                    <a:lnTo>
                      <a:pt x="2514944" y="852562"/>
                    </a:lnTo>
                    <a:lnTo>
                      <a:pt x="0" y="852562"/>
                    </a:lnTo>
                    <a:close/>
                  </a:path>
                </a:pathLst>
              </a:custGeom>
              <a:solidFill>
                <a:srgbClr val="000000">
                  <a:alpha val="0"/>
                </a:srgbClr>
              </a:solidFill>
              <a:ln w="38100" cap="sq">
                <a:solidFill>
                  <a:srgbClr val="000000"/>
                </a:solidFill>
                <a:prstDash val="solid"/>
                <a:miter/>
              </a:ln>
            </p:spPr>
          </p:sp>
          <p:sp>
            <p:nvSpPr>
              <p:cNvPr id="8" name="TextBox 8"/>
              <p:cNvSpPr txBox="1"/>
              <p:nvPr/>
            </p:nvSpPr>
            <p:spPr>
              <a:xfrm>
                <a:off x="0" y="-19050"/>
                <a:ext cx="2514944" cy="871612"/>
              </a:xfrm>
              <a:prstGeom prst="rect">
                <a:avLst/>
              </a:prstGeom>
            </p:spPr>
            <p:txBody>
              <a:bodyPr lIns="50800" tIns="50800" rIns="50800" bIns="50800" rtlCol="0" anchor="ctr"/>
              <a:lstStyle/>
              <a:p>
                <a:pPr algn="ctr">
                  <a:lnSpc>
                    <a:spcPts val="2859"/>
                  </a:lnSpc>
                </a:pPr>
                <a:endParaRPr/>
              </a:p>
            </p:txBody>
          </p:sp>
        </p:grpSp>
        <p:sp>
          <p:nvSpPr>
            <p:cNvPr id="9" name="TextBox 9"/>
            <p:cNvSpPr txBox="1"/>
            <p:nvPr/>
          </p:nvSpPr>
          <p:spPr>
            <a:xfrm>
              <a:off x="0" y="1291085"/>
              <a:ext cx="17363938" cy="3189877"/>
            </a:xfrm>
            <a:prstGeom prst="rect">
              <a:avLst/>
            </a:prstGeom>
          </p:spPr>
          <p:txBody>
            <a:bodyPr lIns="0" tIns="0" rIns="0" bIns="0" rtlCol="0" anchor="t">
              <a:spAutoFit/>
            </a:bodyPr>
            <a:lstStyle/>
            <a:p>
              <a:pPr algn="ctr">
                <a:lnSpc>
                  <a:spcPts val="9748"/>
                </a:lnSpc>
              </a:pPr>
              <a:r>
                <a:rPr lang="en-US" sz="7063" spc="692">
                  <a:solidFill>
                    <a:srgbClr val="231F20"/>
                  </a:solidFill>
                  <a:latin typeface="Oswald Bold"/>
                </a:rPr>
                <a:t>SOLDIER HEALTH AND POSITION TRACKING SYSTEM</a:t>
              </a:r>
            </a:p>
          </p:txBody>
        </p:sp>
      </p:grpSp>
      <p:sp>
        <p:nvSpPr>
          <p:cNvPr id="10" name="Freeform 10"/>
          <p:cNvSpPr/>
          <p:nvPr/>
        </p:nvSpPr>
        <p:spPr>
          <a:xfrm>
            <a:off x="9144000" y="28690"/>
            <a:ext cx="834621" cy="1000010"/>
          </a:xfrm>
          <a:custGeom>
            <a:avLst/>
            <a:gdLst/>
            <a:ahLst/>
            <a:cxnLst/>
            <a:rect l="l" t="t" r="r" b="b"/>
            <a:pathLst>
              <a:path w="834621" h="1000010">
                <a:moveTo>
                  <a:pt x="0" y="0"/>
                </a:moveTo>
                <a:lnTo>
                  <a:pt x="834621" y="0"/>
                </a:lnTo>
                <a:lnTo>
                  <a:pt x="834621" y="1000010"/>
                </a:lnTo>
                <a:lnTo>
                  <a:pt x="0" y="1000010"/>
                </a:lnTo>
                <a:lnTo>
                  <a:pt x="0" y="0"/>
                </a:lnTo>
                <a:close/>
              </a:path>
            </a:pathLst>
          </a:custGeom>
          <a:blipFill>
            <a:blip r:embed="rId5"/>
            <a:stretch>
              <a:fillRect b="-10168"/>
            </a:stretch>
          </a:blipFill>
        </p:spPr>
      </p:sp>
      <p:sp>
        <p:nvSpPr>
          <p:cNvPr id="11" name="TextBox 11"/>
          <p:cNvSpPr txBox="1"/>
          <p:nvPr/>
        </p:nvSpPr>
        <p:spPr>
          <a:xfrm>
            <a:off x="7147809" y="1178741"/>
            <a:ext cx="4827002" cy="507935"/>
          </a:xfrm>
          <a:prstGeom prst="rect">
            <a:avLst/>
          </a:prstGeom>
        </p:spPr>
        <p:txBody>
          <a:bodyPr lIns="0" tIns="0" rIns="0" bIns="0" rtlCol="0" anchor="t">
            <a:spAutoFit/>
          </a:bodyPr>
          <a:lstStyle/>
          <a:p>
            <a:pPr marL="0" lvl="0" indent="0" algn="ctr">
              <a:lnSpc>
                <a:spcPts val="2049"/>
              </a:lnSpc>
              <a:spcBef>
                <a:spcPct val="0"/>
              </a:spcBef>
            </a:pPr>
            <a:r>
              <a:rPr lang="en-US" sz="1484" spc="145">
                <a:solidFill>
                  <a:srgbClr val="231F20"/>
                </a:solidFill>
                <a:latin typeface="Montserrat Classic Bold"/>
              </a:rPr>
              <a:t>VISHWAKARMA INSTITUTE OF TECHNOLOGY, PUNE.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grpSp>
        <p:nvGrpSpPr>
          <p:cNvPr id="3" name="Group 3"/>
          <p:cNvGrpSpPr/>
          <p:nvPr/>
        </p:nvGrpSpPr>
        <p:grpSpPr>
          <a:xfrm>
            <a:off x="0" y="150020"/>
            <a:ext cx="18288000" cy="2223860"/>
            <a:chOff x="0" y="0"/>
            <a:chExt cx="4816593" cy="585708"/>
          </a:xfrm>
        </p:grpSpPr>
        <p:sp>
          <p:nvSpPr>
            <p:cNvPr id="4" name="Freeform 4"/>
            <p:cNvSpPr/>
            <p:nvPr/>
          </p:nvSpPr>
          <p:spPr>
            <a:xfrm>
              <a:off x="0" y="0"/>
              <a:ext cx="4816592" cy="585708"/>
            </a:xfrm>
            <a:custGeom>
              <a:avLst/>
              <a:gdLst/>
              <a:ahLst/>
              <a:cxnLst/>
              <a:rect l="l" t="t" r="r" b="b"/>
              <a:pathLst>
                <a:path w="4816592" h="585708">
                  <a:moveTo>
                    <a:pt x="0" y="0"/>
                  </a:moveTo>
                  <a:lnTo>
                    <a:pt x="4816592" y="0"/>
                  </a:lnTo>
                  <a:lnTo>
                    <a:pt x="4816592" y="585708"/>
                  </a:lnTo>
                  <a:lnTo>
                    <a:pt x="0" y="585708"/>
                  </a:lnTo>
                  <a:close/>
                </a:path>
              </a:pathLst>
            </a:custGeom>
            <a:solidFill>
              <a:srgbClr val="1A1A1A"/>
            </a:solidFill>
          </p:spPr>
        </p:sp>
        <p:sp>
          <p:nvSpPr>
            <p:cNvPr id="5" name="TextBox 5"/>
            <p:cNvSpPr txBox="1"/>
            <p:nvPr/>
          </p:nvSpPr>
          <p:spPr>
            <a:xfrm>
              <a:off x="0" y="-19050"/>
              <a:ext cx="4816593" cy="604758"/>
            </a:xfrm>
            <a:prstGeom prst="rect">
              <a:avLst/>
            </a:prstGeom>
          </p:spPr>
          <p:txBody>
            <a:bodyPr lIns="50800" tIns="50800" rIns="50800" bIns="50800" rtlCol="0" anchor="ctr"/>
            <a:lstStyle/>
            <a:p>
              <a:pPr algn="ctr">
                <a:lnSpc>
                  <a:spcPts val="2859"/>
                </a:lnSpc>
              </a:pPr>
              <a:endParaRPr/>
            </a:p>
          </p:txBody>
        </p:sp>
      </p:grpSp>
      <p:sp>
        <p:nvSpPr>
          <p:cNvPr id="6" name="Freeform 6"/>
          <p:cNvSpPr/>
          <p:nvPr/>
        </p:nvSpPr>
        <p:spPr>
          <a:xfrm>
            <a:off x="13451022" y="-4729397"/>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2851369" y="-3442596"/>
            <a:ext cx="6709932" cy="6885191"/>
          </a:xfrm>
          <a:custGeom>
            <a:avLst/>
            <a:gdLst/>
            <a:ahLst/>
            <a:cxnLst/>
            <a:rect l="l" t="t" r="r" b="b"/>
            <a:pathLst>
              <a:path w="6709932" h="6885191">
                <a:moveTo>
                  <a:pt x="0" y="0"/>
                </a:moveTo>
                <a:lnTo>
                  <a:pt x="6709932" y="0"/>
                </a:lnTo>
                <a:lnTo>
                  <a:pt x="6709932" y="6885192"/>
                </a:lnTo>
                <a:lnTo>
                  <a:pt x="0" y="68851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3348076" y="659599"/>
            <a:ext cx="10906040" cy="1349947"/>
          </a:xfrm>
          <a:prstGeom prst="rect">
            <a:avLst/>
          </a:prstGeom>
        </p:spPr>
        <p:txBody>
          <a:bodyPr lIns="0" tIns="0" rIns="0" bIns="0" rtlCol="0" anchor="t">
            <a:spAutoFit/>
          </a:bodyPr>
          <a:lstStyle/>
          <a:p>
            <a:pPr algn="ctr">
              <a:lnSpc>
                <a:spcPts val="11082"/>
              </a:lnSpc>
            </a:pPr>
            <a:r>
              <a:rPr lang="en-US" sz="8030" spc="786">
                <a:solidFill>
                  <a:srgbClr val="FFFFFF"/>
                </a:solidFill>
                <a:latin typeface="Oswald Bold"/>
              </a:rPr>
              <a:t>PROBLEM STATEMENT</a:t>
            </a:r>
          </a:p>
        </p:txBody>
      </p:sp>
      <p:sp>
        <p:nvSpPr>
          <p:cNvPr id="9" name="TextBox 9"/>
          <p:cNvSpPr txBox="1"/>
          <p:nvPr/>
        </p:nvSpPr>
        <p:spPr>
          <a:xfrm>
            <a:off x="503597" y="3019425"/>
            <a:ext cx="16911184" cy="6486716"/>
          </a:xfrm>
          <a:prstGeom prst="rect">
            <a:avLst/>
          </a:prstGeom>
        </p:spPr>
        <p:txBody>
          <a:bodyPr lIns="0" tIns="0" rIns="0" bIns="0" rtlCol="0" anchor="t">
            <a:spAutoFit/>
          </a:bodyPr>
          <a:lstStyle/>
          <a:p>
            <a:pPr marL="897777" lvl="1" indent="-448888" algn="just">
              <a:lnSpc>
                <a:spcPts val="5738"/>
              </a:lnSpc>
              <a:buFont typeface="Arial"/>
              <a:buChar char="•"/>
            </a:pPr>
            <a:r>
              <a:rPr lang="en-US" sz="4158" spc="407">
                <a:solidFill>
                  <a:srgbClr val="231F20"/>
                </a:solidFill>
                <a:latin typeface="Noto Serif"/>
              </a:rPr>
              <a:t>Designing a Soldier Health and Position System to enhance the well-being and safety of military personnel by integrating real-time health monitoring and accurate position tracking. </a:t>
            </a:r>
          </a:p>
          <a:p>
            <a:pPr algn="just">
              <a:lnSpc>
                <a:spcPts val="5738"/>
              </a:lnSpc>
            </a:pPr>
            <a:endParaRPr lang="en-US" sz="4158" spc="407">
              <a:solidFill>
                <a:srgbClr val="231F20"/>
              </a:solidFill>
              <a:latin typeface="Noto Serif"/>
            </a:endParaRPr>
          </a:p>
          <a:p>
            <a:pPr marL="897777" lvl="1" indent="-448888" algn="just">
              <a:lnSpc>
                <a:spcPts val="5738"/>
              </a:lnSpc>
              <a:buFont typeface="Arial"/>
              <a:buChar char="•"/>
            </a:pPr>
            <a:r>
              <a:rPr lang="en-US" sz="4158" spc="407">
                <a:solidFill>
                  <a:srgbClr val="231F20"/>
                </a:solidFill>
                <a:latin typeface="Noto Serif"/>
              </a:rPr>
              <a:t>This system aims to provide critical health data and location information to the base stations, enabling swift response to emergencies and optimizing strategic decision-making on the battlefield.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TextBox 3"/>
          <p:cNvSpPr txBox="1"/>
          <p:nvPr/>
        </p:nvSpPr>
        <p:spPr>
          <a:xfrm>
            <a:off x="1241714" y="2578291"/>
            <a:ext cx="15804573" cy="7115861"/>
          </a:xfrm>
          <a:prstGeom prst="rect">
            <a:avLst/>
          </a:prstGeom>
        </p:spPr>
        <p:txBody>
          <a:bodyPr lIns="0" tIns="0" rIns="0" bIns="0" rtlCol="0" anchor="t">
            <a:spAutoFit/>
          </a:bodyPr>
          <a:lstStyle/>
          <a:p>
            <a:pPr marL="803148" lvl="1" indent="-401574" algn="just">
              <a:lnSpc>
                <a:spcPts val="5133"/>
              </a:lnSpc>
              <a:buFont typeface="Arial"/>
              <a:buChar char="•"/>
            </a:pPr>
            <a:r>
              <a:rPr lang="en-US" sz="3720" spc="364">
                <a:solidFill>
                  <a:srgbClr val="231F20"/>
                </a:solidFill>
                <a:latin typeface="Noto Serif"/>
              </a:rPr>
              <a:t>In modern warfare, ensuring the well-being and effective deployment of soldiers is paramount. The Soldier Health and Position System addresses this imperative by amalgamating cutting-edge technologies to monitor soldiers' health in real-time and precisely track their positions.</a:t>
            </a:r>
          </a:p>
          <a:p>
            <a:pPr marL="0" lvl="0" indent="0" algn="just">
              <a:lnSpc>
                <a:spcPts val="5133"/>
              </a:lnSpc>
              <a:spcBef>
                <a:spcPct val="0"/>
              </a:spcBef>
            </a:pPr>
            <a:endParaRPr lang="en-US" sz="3720" spc="364">
              <a:solidFill>
                <a:srgbClr val="231F20"/>
              </a:solidFill>
              <a:latin typeface="Noto Serif"/>
            </a:endParaRPr>
          </a:p>
          <a:p>
            <a:pPr marL="803148" lvl="1" indent="-401574" algn="just">
              <a:lnSpc>
                <a:spcPts val="5133"/>
              </a:lnSpc>
              <a:buFont typeface="Arial"/>
              <a:buChar char="•"/>
            </a:pPr>
            <a:r>
              <a:rPr lang="en-US" sz="3720" u="none" strike="noStrike" spc="364">
                <a:solidFill>
                  <a:srgbClr val="231F20"/>
                </a:solidFill>
                <a:latin typeface="Noto Serif"/>
              </a:rPr>
              <a:t>By seamlessly integrating health monitoring and precise positioning, the system acts as a force multiplier, enhancing the overall efficiency and safety of military operations on the battlefield.</a:t>
            </a:r>
          </a:p>
        </p:txBody>
      </p:sp>
      <p:sp>
        <p:nvSpPr>
          <p:cNvPr id="4" name="Freeform 4"/>
          <p:cNvSpPr/>
          <p:nvPr/>
        </p:nvSpPr>
        <p:spPr>
          <a:xfrm rot="7659121">
            <a:off x="-4142163" y="8830324"/>
            <a:ext cx="7629294" cy="7828566"/>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0" y="150020"/>
            <a:ext cx="18288000" cy="2223860"/>
            <a:chOff x="0" y="0"/>
            <a:chExt cx="4816593" cy="585708"/>
          </a:xfrm>
        </p:grpSpPr>
        <p:sp>
          <p:nvSpPr>
            <p:cNvPr id="6" name="Freeform 6"/>
            <p:cNvSpPr/>
            <p:nvPr/>
          </p:nvSpPr>
          <p:spPr>
            <a:xfrm>
              <a:off x="0" y="0"/>
              <a:ext cx="4816592" cy="585708"/>
            </a:xfrm>
            <a:custGeom>
              <a:avLst/>
              <a:gdLst/>
              <a:ahLst/>
              <a:cxnLst/>
              <a:rect l="l" t="t" r="r" b="b"/>
              <a:pathLst>
                <a:path w="4816592" h="585708">
                  <a:moveTo>
                    <a:pt x="0" y="0"/>
                  </a:moveTo>
                  <a:lnTo>
                    <a:pt x="4816592" y="0"/>
                  </a:lnTo>
                  <a:lnTo>
                    <a:pt x="4816592" y="585708"/>
                  </a:lnTo>
                  <a:lnTo>
                    <a:pt x="0" y="585708"/>
                  </a:lnTo>
                  <a:close/>
                </a:path>
              </a:pathLst>
            </a:custGeom>
            <a:solidFill>
              <a:srgbClr val="1A1A1A"/>
            </a:solidFill>
          </p:spPr>
        </p:sp>
        <p:sp>
          <p:nvSpPr>
            <p:cNvPr id="7" name="TextBox 7"/>
            <p:cNvSpPr txBox="1"/>
            <p:nvPr/>
          </p:nvSpPr>
          <p:spPr>
            <a:xfrm>
              <a:off x="0" y="-19050"/>
              <a:ext cx="4816593" cy="604758"/>
            </a:xfrm>
            <a:prstGeom prst="rect">
              <a:avLst/>
            </a:prstGeom>
          </p:spPr>
          <p:txBody>
            <a:bodyPr lIns="50800" tIns="50800" rIns="50800" bIns="50800" rtlCol="0" anchor="ctr"/>
            <a:lstStyle/>
            <a:p>
              <a:pPr algn="ctr">
                <a:lnSpc>
                  <a:spcPts val="2859"/>
                </a:lnSpc>
              </a:pPr>
              <a:endParaRPr/>
            </a:p>
          </p:txBody>
        </p:sp>
      </p:grpSp>
      <p:sp>
        <p:nvSpPr>
          <p:cNvPr id="8" name="Freeform 8"/>
          <p:cNvSpPr/>
          <p:nvPr/>
        </p:nvSpPr>
        <p:spPr>
          <a:xfrm rot="2016048">
            <a:off x="11985092" y="-1012399"/>
            <a:ext cx="10749463" cy="2687366"/>
          </a:xfrm>
          <a:custGeom>
            <a:avLst/>
            <a:gdLst/>
            <a:ahLst/>
            <a:cxnLst/>
            <a:rect l="l" t="t" r="r" b="b"/>
            <a:pathLst>
              <a:path w="10749463" h="2687366">
                <a:moveTo>
                  <a:pt x="0" y="0"/>
                </a:moveTo>
                <a:lnTo>
                  <a:pt x="10749463" y="0"/>
                </a:lnTo>
                <a:lnTo>
                  <a:pt x="10749463" y="2687366"/>
                </a:lnTo>
                <a:lnTo>
                  <a:pt x="0" y="268736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3690980" y="520302"/>
            <a:ext cx="10906040" cy="1349947"/>
          </a:xfrm>
          <a:prstGeom prst="rect">
            <a:avLst/>
          </a:prstGeom>
        </p:spPr>
        <p:txBody>
          <a:bodyPr lIns="0" tIns="0" rIns="0" bIns="0" rtlCol="0" anchor="t">
            <a:spAutoFit/>
          </a:bodyPr>
          <a:lstStyle/>
          <a:p>
            <a:pPr algn="ctr">
              <a:lnSpc>
                <a:spcPts val="11082"/>
              </a:lnSpc>
            </a:pPr>
            <a:r>
              <a:rPr lang="en-US" sz="8030" spc="786">
                <a:solidFill>
                  <a:srgbClr val="FFFFFF"/>
                </a:solidFill>
                <a:latin typeface="Oswald Bold"/>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sp>
        <p:nvSpPr>
          <p:cNvPr id="3" name="Freeform 3"/>
          <p:cNvSpPr/>
          <p:nvPr/>
        </p:nvSpPr>
        <p:spPr>
          <a:xfrm rot="-4176364">
            <a:off x="-4360343" y="6765819"/>
            <a:ext cx="7616557" cy="7815497"/>
          </a:xfrm>
          <a:custGeom>
            <a:avLst/>
            <a:gdLst/>
            <a:ahLst/>
            <a:cxnLst/>
            <a:rect l="l" t="t" r="r" b="b"/>
            <a:pathLst>
              <a:path w="7616557" h="7815497">
                <a:moveTo>
                  <a:pt x="0" y="0"/>
                </a:moveTo>
                <a:lnTo>
                  <a:pt x="7616557" y="0"/>
                </a:lnTo>
                <a:lnTo>
                  <a:pt x="7616557"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1678898" y="2690416"/>
            <a:ext cx="15580402" cy="6842445"/>
          </a:xfrm>
          <a:prstGeom prst="rect">
            <a:avLst/>
          </a:prstGeom>
        </p:spPr>
        <p:txBody>
          <a:bodyPr lIns="0" tIns="0" rIns="0" bIns="0" rtlCol="0" anchor="t">
            <a:spAutoFit/>
          </a:bodyPr>
          <a:lstStyle/>
          <a:p>
            <a:pPr algn="just">
              <a:lnSpc>
                <a:spcPts val="4517"/>
              </a:lnSpc>
              <a:spcBef>
                <a:spcPct val="0"/>
              </a:spcBef>
            </a:pPr>
            <a:r>
              <a:rPr lang="en-US" sz="3474">
                <a:solidFill>
                  <a:srgbClr val="231F20"/>
                </a:solidFill>
                <a:latin typeface="Noto Serif"/>
              </a:rPr>
              <a:t>The primary objectives of this project are:</a:t>
            </a:r>
          </a:p>
          <a:p>
            <a:pPr algn="just">
              <a:lnSpc>
                <a:spcPts val="4517"/>
              </a:lnSpc>
              <a:spcBef>
                <a:spcPct val="0"/>
              </a:spcBef>
            </a:pPr>
            <a:endParaRPr lang="en-US" sz="3474">
              <a:solidFill>
                <a:srgbClr val="231F20"/>
              </a:solidFill>
              <a:latin typeface="Noto Serif"/>
            </a:endParaRPr>
          </a:p>
          <a:p>
            <a:pPr marL="750207" lvl="1" indent="-375103" algn="just">
              <a:lnSpc>
                <a:spcPts val="4517"/>
              </a:lnSpc>
              <a:spcBef>
                <a:spcPct val="0"/>
              </a:spcBef>
              <a:buFont typeface="Arial"/>
              <a:buChar char="•"/>
            </a:pPr>
            <a:r>
              <a:rPr lang="en-US" sz="3474">
                <a:solidFill>
                  <a:srgbClr val="231F20"/>
                </a:solidFill>
                <a:latin typeface="Noto Serif"/>
              </a:rPr>
              <a:t>Implement real-time health monitoring for continuous tracking of soldiers' vital signs.</a:t>
            </a:r>
          </a:p>
          <a:p>
            <a:pPr algn="just">
              <a:lnSpc>
                <a:spcPts val="4517"/>
              </a:lnSpc>
              <a:spcBef>
                <a:spcPct val="0"/>
              </a:spcBef>
            </a:pPr>
            <a:endParaRPr lang="en-US" sz="3474">
              <a:solidFill>
                <a:srgbClr val="231F20"/>
              </a:solidFill>
              <a:latin typeface="Noto Serif"/>
            </a:endParaRPr>
          </a:p>
          <a:p>
            <a:pPr marL="750207" lvl="1" indent="-375103" algn="just">
              <a:lnSpc>
                <a:spcPts val="4517"/>
              </a:lnSpc>
              <a:spcBef>
                <a:spcPct val="0"/>
              </a:spcBef>
              <a:buFont typeface="Arial"/>
              <a:buChar char="•"/>
            </a:pPr>
            <a:r>
              <a:rPr lang="en-US" sz="3474">
                <a:solidFill>
                  <a:srgbClr val="231F20"/>
                </a:solidFill>
                <a:latin typeface="Noto Serif"/>
              </a:rPr>
              <a:t>Develop precise position tracking using GPS and inertial sensors to enhance situational awareness.</a:t>
            </a:r>
          </a:p>
          <a:p>
            <a:pPr algn="just">
              <a:lnSpc>
                <a:spcPts val="4517"/>
              </a:lnSpc>
              <a:spcBef>
                <a:spcPct val="0"/>
              </a:spcBef>
            </a:pPr>
            <a:endParaRPr lang="en-US" sz="3474">
              <a:solidFill>
                <a:srgbClr val="231F20"/>
              </a:solidFill>
              <a:latin typeface="Noto Serif"/>
            </a:endParaRPr>
          </a:p>
          <a:p>
            <a:pPr marL="750207" lvl="1" indent="-375103" algn="just">
              <a:lnSpc>
                <a:spcPts val="4517"/>
              </a:lnSpc>
              <a:spcBef>
                <a:spcPct val="0"/>
              </a:spcBef>
              <a:buFont typeface="Arial"/>
              <a:buChar char="•"/>
            </a:pPr>
            <a:r>
              <a:rPr lang="en-US" sz="3474">
                <a:solidFill>
                  <a:srgbClr val="231F20"/>
                </a:solidFill>
                <a:latin typeface="Noto Serif"/>
              </a:rPr>
              <a:t>Integrate health and position data streams to create a unified information system.</a:t>
            </a:r>
          </a:p>
          <a:p>
            <a:pPr>
              <a:lnSpc>
                <a:spcPts val="4517"/>
              </a:lnSpc>
            </a:pPr>
            <a:endParaRPr lang="en-US" sz="3474">
              <a:solidFill>
                <a:srgbClr val="231F20"/>
              </a:solidFill>
              <a:latin typeface="Noto Serif"/>
            </a:endParaRPr>
          </a:p>
          <a:p>
            <a:pPr>
              <a:lnSpc>
                <a:spcPts val="4517"/>
              </a:lnSpc>
            </a:pPr>
            <a:endParaRPr lang="en-US" sz="3474">
              <a:solidFill>
                <a:srgbClr val="231F20"/>
              </a:solidFill>
              <a:latin typeface="Noto Serif"/>
            </a:endParaRPr>
          </a:p>
        </p:txBody>
      </p:sp>
      <p:grpSp>
        <p:nvGrpSpPr>
          <p:cNvPr id="5" name="Group 5"/>
          <p:cNvGrpSpPr/>
          <p:nvPr/>
        </p:nvGrpSpPr>
        <p:grpSpPr>
          <a:xfrm>
            <a:off x="0" y="114915"/>
            <a:ext cx="18288000" cy="2223860"/>
            <a:chOff x="0" y="0"/>
            <a:chExt cx="4816593" cy="585708"/>
          </a:xfrm>
        </p:grpSpPr>
        <p:sp>
          <p:nvSpPr>
            <p:cNvPr id="6" name="Freeform 6"/>
            <p:cNvSpPr/>
            <p:nvPr/>
          </p:nvSpPr>
          <p:spPr>
            <a:xfrm>
              <a:off x="0" y="0"/>
              <a:ext cx="4816592" cy="585708"/>
            </a:xfrm>
            <a:custGeom>
              <a:avLst/>
              <a:gdLst/>
              <a:ahLst/>
              <a:cxnLst/>
              <a:rect l="l" t="t" r="r" b="b"/>
              <a:pathLst>
                <a:path w="4816592" h="585708">
                  <a:moveTo>
                    <a:pt x="0" y="0"/>
                  </a:moveTo>
                  <a:lnTo>
                    <a:pt x="4816592" y="0"/>
                  </a:lnTo>
                  <a:lnTo>
                    <a:pt x="4816592" y="585708"/>
                  </a:lnTo>
                  <a:lnTo>
                    <a:pt x="0" y="585708"/>
                  </a:lnTo>
                  <a:close/>
                </a:path>
              </a:pathLst>
            </a:custGeom>
            <a:solidFill>
              <a:srgbClr val="1A1A1A"/>
            </a:solidFill>
          </p:spPr>
        </p:sp>
        <p:sp>
          <p:nvSpPr>
            <p:cNvPr id="7" name="TextBox 7"/>
            <p:cNvSpPr txBox="1"/>
            <p:nvPr/>
          </p:nvSpPr>
          <p:spPr>
            <a:xfrm>
              <a:off x="0" y="-19050"/>
              <a:ext cx="4816593" cy="604758"/>
            </a:xfrm>
            <a:prstGeom prst="rect">
              <a:avLst/>
            </a:prstGeom>
          </p:spPr>
          <p:txBody>
            <a:bodyPr lIns="50800" tIns="50800" rIns="50800" bIns="50800" rtlCol="0" anchor="ctr"/>
            <a:lstStyle/>
            <a:p>
              <a:pPr algn="ctr">
                <a:lnSpc>
                  <a:spcPts val="2859"/>
                </a:lnSpc>
              </a:pPr>
              <a:endParaRPr/>
            </a:p>
          </p:txBody>
        </p:sp>
      </p:grpSp>
      <p:sp>
        <p:nvSpPr>
          <p:cNvPr id="8" name="TextBox 8"/>
          <p:cNvSpPr txBox="1"/>
          <p:nvPr/>
        </p:nvSpPr>
        <p:spPr>
          <a:xfrm>
            <a:off x="3690980" y="520302"/>
            <a:ext cx="10906040" cy="1349947"/>
          </a:xfrm>
          <a:prstGeom prst="rect">
            <a:avLst/>
          </a:prstGeom>
        </p:spPr>
        <p:txBody>
          <a:bodyPr lIns="0" tIns="0" rIns="0" bIns="0" rtlCol="0" anchor="t">
            <a:spAutoFit/>
          </a:bodyPr>
          <a:lstStyle/>
          <a:p>
            <a:pPr algn="ctr">
              <a:lnSpc>
                <a:spcPts val="11082"/>
              </a:lnSpc>
            </a:pPr>
            <a:r>
              <a:rPr lang="en-US" sz="8030" spc="786">
                <a:solidFill>
                  <a:srgbClr val="FFFFFF"/>
                </a:solidFill>
                <a:latin typeface="Oswald Bold"/>
              </a:rPr>
              <a:t>OBJECTIVES</a:t>
            </a:r>
          </a:p>
        </p:txBody>
      </p:sp>
      <p:sp>
        <p:nvSpPr>
          <p:cNvPr id="9" name="Freeform 9"/>
          <p:cNvSpPr/>
          <p:nvPr/>
        </p:nvSpPr>
        <p:spPr>
          <a:xfrm>
            <a:off x="14479722" y="-4676695"/>
            <a:ext cx="7616557" cy="7815497"/>
          </a:xfrm>
          <a:custGeom>
            <a:avLst/>
            <a:gdLst/>
            <a:ahLst/>
            <a:cxnLst/>
            <a:rect l="l" t="t" r="r" b="b"/>
            <a:pathLst>
              <a:path w="7616557" h="7815497">
                <a:moveTo>
                  <a:pt x="0" y="0"/>
                </a:moveTo>
                <a:lnTo>
                  <a:pt x="7616556" y="0"/>
                </a:lnTo>
                <a:lnTo>
                  <a:pt x="7616556" y="7815496"/>
                </a:lnTo>
                <a:lnTo>
                  <a:pt x="0" y="781549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4F5"/>
        </a:solidFill>
        <a:effectLst/>
      </p:bgPr>
    </p:bg>
    <p:spTree>
      <p:nvGrpSpPr>
        <p:cNvPr id="1" name=""/>
        <p:cNvGrpSpPr/>
        <p:nvPr/>
      </p:nvGrpSpPr>
      <p:grpSpPr>
        <a:xfrm>
          <a:off x="0" y="0"/>
          <a:ext cx="0" cy="0"/>
          <a:chOff x="0" y="0"/>
          <a:chExt cx="0" cy="0"/>
        </a:xfrm>
      </p:grpSpPr>
      <p:sp>
        <p:nvSpPr>
          <p:cNvPr id="2" name="Freeform 2"/>
          <p:cNvSpPr/>
          <p:nvPr/>
        </p:nvSpPr>
        <p:spPr>
          <a:xfrm rot="7659121">
            <a:off x="15656418" y="6526110"/>
            <a:ext cx="7629294" cy="7828566"/>
          </a:xfrm>
          <a:custGeom>
            <a:avLst/>
            <a:gdLst/>
            <a:ahLst/>
            <a:cxnLst/>
            <a:rect l="l" t="t" r="r" b="b"/>
            <a:pathLst>
              <a:path w="7629294" h="7828566">
                <a:moveTo>
                  <a:pt x="0" y="0"/>
                </a:moveTo>
                <a:lnTo>
                  <a:pt x="7629294" y="0"/>
                </a:lnTo>
                <a:lnTo>
                  <a:pt x="7629294" y="7828566"/>
                </a:lnTo>
                <a:lnTo>
                  <a:pt x="0" y="78285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028700" y="2952917"/>
            <a:ext cx="6923616" cy="5762160"/>
            <a:chOff x="0" y="0"/>
            <a:chExt cx="9231488" cy="7682880"/>
          </a:xfrm>
        </p:grpSpPr>
        <p:sp>
          <p:nvSpPr>
            <p:cNvPr id="4" name="TextBox 4"/>
            <p:cNvSpPr txBox="1"/>
            <p:nvPr/>
          </p:nvSpPr>
          <p:spPr>
            <a:xfrm>
              <a:off x="2356411" y="-114300"/>
              <a:ext cx="5017938" cy="1371510"/>
            </a:xfrm>
            <a:prstGeom prst="rect">
              <a:avLst/>
            </a:prstGeom>
          </p:spPr>
          <p:txBody>
            <a:bodyPr lIns="0" tIns="0" rIns="0" bIns="0" rtlCol="0" anchor="t">
              <a:spAutoFit/>
            </a:bodyPr>
            <a:lstStyle/>
            <a:p>
              <a:pPr algn="ctr">
                <a:lnSpc>
                  <a:spcPts val="8668"/>
                </a:lnSpc>
              </a:pPr>
              <a:r>
                <a:rPr lang="en-US" sz="6192">
                  <a:solidFill>
                    <a:srgbClr val="000000"/>
                  </a:solidFill>
                  <a:latin typeface="Canva Sans Bold"/>
                </a:rPr>
                <a:t>Hardware</a:t>
              </a:r>
            </a:p>
          </p:txBody>
        </p:sp>
        <p:sp>
          <p:nvSpPr>
            <p:cNvPr id="5" name="TextBox 5"/>
            <p:cNvSpPr txBox="1"/>
            <p:nvPr/>
          </p:nvSpPr>
          <p:spPr>
            <a:xfrm>
              <a:off x="0" y="1868929"/>
              <a:ext cx="9231488" cy="5813951"/>
            </a:xfrm>
            <a:prstGeom prst="rect">
              <a:avLst/>
            </a:prstGeom>
          </p:spPr>
          <p:txBody>
            <a:bodyPr lIns="0" tIns="0" rIns="0" bIns="0" rtlCol="0" anchor="t">
              <a:spAutoFit/>
            </a:bodyPr>
            <a:lstStyle/>
            <a:p>
              <a:pPr marL="765789" lvl="1" indent="-382894">
                <a:lnSpc>
                  <a:spcPts val="4965"/>
                </a:lnSpc>
                <a:buFont typeface="Arial"/>
                <a:buChar char="•"/>
              </a:pPr>
              <a:r>
                <a:rPr lang="en-US" sz="3546">
                  <a:solidFill>
                    <a:srgbClr val="000000"/>
                  </a:solidFill>
                  <a:latin typeface="Noto Serif Ethiopic"/>
                </a:rPr>
                <a:t>Arduino Uno </a:t>
              </a:r>
            </a:p>
            <a:p>
              <a:pPr marL="765789" lvl="1" indent="-382894">
                <a:lnSpc>
                  <a:spcPts val="4965"/>
                </a:lnSpc>
                <a:buFont typeface="Arial"/>
                <a:buChar char="•"/>
              </a:pPr>
              <a:r>
                <a:rPr lang="en-US" sz="3546">
                  <a:solidFill>
                    <a:srgbClr val="000000"/>
                  </a:solidFill>
                  <a:latin typeface="Noto Serif Ethiopic"/>
                </a:rPr>
                <a:t>SIM900A GSM Module</a:t>
              </a:r>
            </a:p>
            <a:p>
              <a:pPr marL="765789" lvl="1" indent="-382894">
                <a:lnSpc>
                  <a:spcPts val="4965"/>
                </a:lnSpc>
                <a:buFont typeface="Arial"/>
                <a:buChar char="•"/>
              </a:pPr>
              <a:r>
                <a:rPr lang="en-US" sz="3546">
                  <a:solidFill>
                    <a:srgbClr val="000000"/>
                  </a:solidFill>
                  <a:latin typeface="Noto Serif Ethiopic"/>
                </a:rPr>
                <a:t>Neo-6m GPS Module</a:t>
              </a:r>
            </a:p>
            <a:p>
              <a:pPr marL="765789" lvl="1" indent="-382894">
                <a:lnSpc>
                  <a:spcPts val="4965"/>
                </a:lnSpc>
                <a:buFont typeface="Arial"/>
                <a:buChar char="•"/>
              </a:pPr>
              <a:r>
                <a:rPr lang="en-US" sz="3546">
                  <a:solidFill>
                    <a:srgbClr val="000000"/>
                  </a:solidFill>
                  <a:latin typeface="Noto Serif Ethiopic"/>
                </a:rPr>
                <a:t>LDR Module</a:t>
              </a:r>
            </a:p>
            <a:p>
              <a:pPr marL="765789" lvl="1" indent="-382894">
                <a:lnSpc>
                  <a:spcPts val="4965"/>
                </a:lnSpc>
                <a:buFont typeface="Arial"/>
                <a:buChar char="•"/>
              </a:pPr>
              <a:r>
                <a:rPr lang="en-US" sz="3546">
                  <a:solidFill>
                    <a:srgbClr val="000000"/>
                  </a:solidFill>
                  <a:latin typeface="Noto Serif Ethiopic"/>
                </a:rPr>
                <a:t>16x2 LCD Display</a:t>
              </a:r>
            </a:p>
            <a:p>
              <a:pPr marL="765789" lvl="1" indent="-382894">
                <a:lnSpc>
                  <a:spcPts val="4965"/>
                </a:lnSpc>
                <a:buFont typeface="Arial"/>
                <a:buChar char="•"/>
              </a:pPr>
              <a:r>
                <a:rPr lang="en-US" sz="3546">
                  <a:solidFill>
                    <a:srgbClr val="000000"/>
                  </a:solidFill>
                  <a:latin typeface="Noto Serif Ethiopic"/>
                </a:rPr>
                <a:t>I2C (Inter-Integrated Circuit)</a:t>
              </a:r>
            </a:p>
            <a:p>
              <a:pPr marL="765789" lvl="1" indent="-382894">
                <a:lnSpc>
                  <a:spcPts val="4965"/>
                </a:lnSpc>
                <a:buFont typeface="Arial"/>
                <a:buChar char="•"/>
              </a:pPr>
              <a:r>
                <a:rPr lang="en-US" sz="3546">
                  <a:solidFill>
                    <a:srgbClr val="000000"/>
                  </a:solidFill>
                  <a:latin typeface="Noto Serif Ethiopic"/>
                </a:rPr>
                <a:t>LM-35 Temperature Sensor</a:t>
              </a:r>
            </a:p>
          </p:txBody>
        </p:sp>
      </p:grpSp>
      <p:grpSp>
        <p:nvGrpSpPr>
          <p:cNvPr id="6" name="Group 6"/>
          <p:cNvGrpSpPr/>
          <p:nvPr/>
        </p:nvGrpSpPr>
        <p:grpSpPr>
          <a:xfrm>
            <a:off x="10214787" y="3211132"/>
            <a:ext cx="6923616" cy="2618910"/>
            <a:chOff x="0" y="0"/>
            <a:chExt cx="9231488" cy="3491880"/>
          </a:xfrm>
        </p:grpSpPr>
        <p:sp>
          <p:nvSpPr>
            <p:cNvPr id="7" name="TextBox 7"/>
            <p:cNvSpPr txBox="1"/>
            <p:nvPr/>
          </p:nvSpPr>
          <p:spPr>
            <a:xfrm>
              <a:off x="2356411" y="-114300"/>
              <a:ext cx="5017938" cy="1371510"/>
            </a:xfrm>
            <a:prstGeom prst="rect">
              <a:avLst/>
            </a:prstGeom>
          </p:spPr>
          <p:txBody>
            <a:bodyPr lIns="0" tIns="0" rIns="0" bIns="0" rtlCol="0" anchor="t">
              <a:spAutoFit/>
            </a:bodyPr>
            <a:lstStyle/>
            <a:p>
              <a:pPr algn="ctr">
                <a:lnSpc>
                  <a:spcPts val="8668"/>
                </a:lnSpc>
              </a:pPr>
              <a:r>
                <a:rPr lang="en-US" sz="6192">
                  <a:solidFill>
                    <a:srgbClr val="000000"/>
                  </a:solidFill>
                  <a:latin typeface="Canva Sans Bold"/>
                </a:rPr>
                <a:t>Software</a:t>
              </a:r>
            </a:p>
          </p:txBody>
        </p:sp>
        <p:sp>
          <p:nvSpPr>
            <p:cNvPr id="8" name="TextBox 8"/>
            <p:cNvSpPr txBox="1"/>
            <p:nvPr/>
          </p:nvSpPr>
          <p:spPr>
            <a:xfrm>
              <a:off x="0" y="1868929"/>
              <a:ext cx="9231488" cy="1622951"/>
            </a:xfrm>
            <a:prstGeom prst="rect">
              <a:avLst/>
            </a:prstGeom>
          </p:spPr>
          <p:txBody>
            <a:bodyPr lIns="0" tIns="0" rIns="0" bIns="0" rtlCol="0" anchor="t">
              <a:spAutoFit/>
            </a:bodyPr>
            <a:lstStyle/>
            <a:p>
              <a:pPr marL="765789" lvl="1" indent="-382894">
                <a:lnSpc>
                  <a:spcPts val="4965"/>
                </a:lnSpc>
                <a:buFont typeface="Arial"/>
                <a:buChar char="•"/>
              </a:pPr>
              <a:r>
                <a:rPr lang="en-US" sz="3546">
                  <a:solidFill>
                    <a:srgbClr val="000000"/>
                  </a:solidFill>
                  <a:latin typeface="Noto Serif Ethiopic"/>
                </a:rPr>
                <a:t>Arduino IDE</a:t>
              </a:r>
            </a:p>
            <a:p>
              <a:pPr marL="765789" lvl="1" indent="-382894">
                <a:lnSpc>
                  <a:spcPts val="4965"/>
                </a:lnSpc>
                <a:buFont typeface="Arial"/>
                <a:buChar char="•"/>
              </a:pPr>
              <a:r>
                <a:rPr lang="en-US" sz="3546">
                  <a:solidFill>
                    <a:srgbClr val="000000"/>
                  </a:solidFill>
                  <a:latin typeface="Noto Serif Ethiopic"/>
                </a:rPr>
                <a:t>Google Maps</a:t>
              </a:r>
            </a:p>
          </p:txBody>
        </p:sp>
      </p:grpSp>
      <p:grpSp>
        <p:nvGrpSpPr>
          <p:cNvPr id="9" name="Group 9"/>
          <p:cNvGrpSpPr/>
          <p:nvPr/>
        </p:nvGrpSpPr>
        <p:grpSpPr>
          <a:xfrm>
            <a:off x="0" y="260991"/>
            <a:ext cx="18288000" cy="2223860"/>
            <a:chOff x="0" y="0"/>
            <a:chExt cx="4816593" cy="585708"/>
          </a:xfrm>
        </p:grpSpPr>
        <p:sp>
          <p:nvSpPr>
            <p:cNvPr id="10" name="Freeform 10"/>
            <p:cNvSpPr/>
            <p:nvPr/>
          </p:nvSpPr>
          <p:spPr>
            <a:xfrm>
              <a:off x="0" y="0"/>
              <a:ext cx="4816592" cy="585708"/>
            </a:xfrm>
            <a:custGeom>
              <a:avLst/>
              <a:gdLst/>
              <a:ahLst/>
              <a:cxnLst/>
              <a:rect l="l" t="t" r="r" b="b"/>
              <a:pathLst>
                <a:path w="4816592" h="585708">
                  <a:moveTo>
                    <a:pt x="0" y="0"/>
                  </a:moveTo>
                  <a:lnTo>
                    <a:pt x="4816592" y="0"/>
                  </a:lnTo>
                  <a:lnTo>
                    <a:pt x="4816592" y="585708"/>
                  </a:lnTo>
                  <a:lnTo>
                    <a:pt x="0" y="585708"/>
                  </a:lnTo>
                  <a:close/>
                </a:path>
              </a:pathLst>
            </a:custGeom>
            <a:solidFill>
              <a:srgbClr val="1A1A1A"/>
            </a:solidFill>
          </p:spPr>
        </p:sp>
        <p:sp>
          <p:nvSpPr>
            <p:cNvPr id="11" name="TextBox 11"/>
            <p:cNvSpPr txBox="1"/>
            <p:nvPr/>
          </p:nvSpPr>
          <p:spPr>
            <a:xfrm>
              <a:off x="0" y="-19050"/>
              <a:ext cx="4816593" cy="604758"/>
            </a:xfrm>
            <a:prstGeom prst="rect">
              <a:avLst/>
            </a:prstGeom>
          </p:spPr>
          <p:txBody>
            <a:bodyPr lIns="50800" tIns="50800" rIns="50800" bIns="50800" rtlCol="0" anchor="ctr"/>
            <a:lstStyle/>
            <a:p>
              <a:pPr algn="ctr">
                <a:lnSpc>
                  <a:spcPts val="2859"/>
                </a:lnSpc>
              </a:pPr>
              <a:endParaRPr/>
            </a:p>
          </p:txBody>
        </p:sp>
      </p:grpSp>
      <p:sp>
        <p:nvSpPr>
          <p:cNvPr id="12" name="TextBox 12"/>
          <p:cNvSpPr txBox="1"/>
          <p:nvPr/>
        </p:nvSpPr>
        <p:spPr>
          <a:xfrm>
            <a:off x="2216570" y="715094"/>
            <a:ext cx="14088894" cy="1191828"/>
          </a:xfrm>
          <a:prstGeom prst="rect">
            <a:avLst/>
          </a:prstGeom>
        </p:spPr>
        <p:txBody>
          <a:bodyPr lIns="0" tIns="0" rIns="0" bIns="0" rtlCol="0" anchor="t">
            <a:spAutoFit/>
          </a:bodyPr>
          <a:lstStyle/>
          <a:p>
            <a:pPr algn="ctr">
              <a:lnSpc>
                <a:spcPts val="9702"/>
              </a:lnSpc>
            </a:pPr>
            <a:r>
              <a:rPr lang="en-US" sz="7030" spc="689">
                <a:solidFill>
                  <a:srgbClr val="FFFFFF"/>
                </a:solidFill>
                <a:latin typeface="Oswald Bold"/>
              </a:rPr>
              <a:t>TECHNOLOGY AND COMPONENTS</a:t>
            </a:r>
          </a:p>
        </p:txBody>
      </p:sp>
      <p:sp>
        <p:nvSpPr>
          <p:cNvPr id="13" name="Freeform 13"/>
          <p:cNvSpPr/>
          <p:nvPr/>
        </p:nvSpPr>
        <p:spPr>
          <a:xfrm>
            <a:off x="-4959755" y="-6158243"/>
            <a:ext cx="9022634" cy="9258300"/>
          </a:xfrm>
          <a:custGeom>
            <a:avLst/>
            <a:gdLst/>
            <a:ahLst/>
            <a:cxnLst/>
            <a:rect l="l" t="t" r="r" b="b"/>
            <a:pathLst>
              <a:path w="9022634" h="9258300">
                <a:moveTo>
                  <a:pt x="0" y="0"/>
                </a:moveTo>
                <a:lnTo>
                  <a:pt x="9022634" y="0"/>
                </a:lnTo>
                <a:lnTo>
                  <a:pt x="9022634" y="9258300"/>
                </a:lnTo>
                <a:lnTo>
                  <a:pt x="0" y="92583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4F5"/>
        </a:solidFill>
        <a:effectLst/>
      </p:bgPr>
    </p:bg>
    <p:spTree>
      <p:nvGrpSpPr>
        <p:cNvPr id="1" name=""/>
        <p:cNvGrpSpPr/>
        <p:nvPr/>
      </p:nvGrpSpPr>
      <p:grpSpPr>
        <a:xfrm>
          <a:off x="0" y="0"/>
          <a:ext cx="0" cy="0"/>
          <a:chOff x="0" y="0"/>
          <a:chExt cx="0" cy="0"/>
        </a:xfrm>
      </p:grpSpPr>
      <p:sp>
        <p:nvSpPr>
          <p:cNvPr id="2" name="Freeform 2"/>
          <p:cNvSpPr/>
          <p:nvPr/>
        </p:nvSpPr>
        <p:spPr>
          <a:xfrm rot="-4176364">
            <a:off x="-4393523" y="6812524"/>
            <a:ext cx="7616557" cy="7815497"/>
          </a:xfrm>
          <a:custGeom>
            <a:avLst/>
            <a:gdLst/>
            <a:ahLst/>
            <a:cxnLst/>
            <a:rect l="l" t="t" r="r" b="b"/>
            <a:pathLst>
              <a:path w="7616557" h="7815497">
                <a:moveTo>
                  <a:pt x="0" y="0"/>
                </a:moveTo>
                <a:lnTo>
                  <a:pt x="7616557" y="0"/>
                </a:lnTo>
                <a:lnTo>
                  <a:pt x="7616557" y="7815496"/>
                </a:lnTo>
                <a:lnTo>
                  <a:pt x="0" y="78154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862841" y="2054122"/>
            <a:ext cx="15396459" cy="8666150"/>
          </a:xfrm>
          <a:prstGeom prst="rect">
            <a:avLst/>
          </a:prstGeom>
        </p:spPr>
        <p:txBody>
          <a:bodyPr lIns="0" tIns="0" rIns="0" bIns="0" rtlCol="0" anchor="t">
            <a:spAutoFit/>
          </a:bodyPr>
          <a:lstStyle/>
          <a:p>
            <a:pPr>
              <a:lnSpc>
                <a:spcPts val="3546"/>
              </a:lnSpc>
            </a:pPr>
            <a:r>
              <a:rPr lang="en-US" sz="2570" spc="251">
                <a:solidFill>
                  <a:srgbClr val="231F20"/>
                </a:solidFill>
                <a:latin typeface="Noto Serif Bold"/>
              </a:rPr>
              <a:t>The methodology for developing The soldier health and position monitoring system:</a:t>
            </a:r>
          </a:p>
          <a:p>
            <a:pPr>
              <a:lnSpc>
                <a:spcPts val="3546"/>
              </a:lnSpc>
            </a:pPr>
            <a:endParaRPr lang="en-US" sz="2570" spc="251">
              <a:solidFill>
                <a:srgbClr val="231F20"/>
              </a:solidFill>
              <a:latin typeface="Noto Serif Bold"/>
            </a:endParaRPr>
          </a:p>
          <a:p>
            <a:pPr marL="619632" lvl="1" indent="-309816">
              <a:lnSpc>
                <a:spcPts val="3960"/>
              </a:lnSpc>
              <a:buFont typeface="Arial"/>
              <a:buChar char="•"/>
            </a:pPr>
            <a:r>
              <a:rPr lang="en-US" sz="2869" spc="281">
                <a:solidFill>
                  <a:srgbClr val="231F20"/>
                </a:solidFill>
                <a:latin typeface="Noto Serif"/>
              </a:rPr>
              <a:t>Involves setting up the hardware using </a:t>
            </a:r>
            <a:r>
              <a:rPr lang="en-US" sz="2869" spc="281">
                <a:solidFill>
                  <a:srgbClr val="231F20"/>
                </a:solidFill>
                <a:latin typeface="Noto Serif Bold"/>
              </a:rPr>
              <a:t>Arduino Uno</a:t>
            </a:r>
            <a:r>
              <a:rPr lang="en-US" sz="2869" spc="281">
                <a:solidFill>
                  <a:srgbClr val="231F20"/>
                </a:solidFill>
                <a:latin typeface="Noto Serif"/>
              </a:rPr>
              <a:t>, </a:t>
            </a:r>
            <a:r>
              <a:rPr lang="en-US" sz="2869" spc="281">
                <a:solidFill>
                  <a:srgbClr val="231F20"/>
                </a:solidFill>
                <a:latin typeface="Noto Serif Bold"/>
              </a:rPr>
              <a:t>LM35</a:t>
            </a:r>
            <a:r>
              <a:rPr lang="en-US" sz="2869" spc="281">
                <a:solidFill>
                  <a:srgbClr val="231F20"/>
                </a:solidFill>
                <a:latin typeface="Noto Serif"/>
              </a:rPr>
              <a:t> for body temperature monitoring, </a:t>
            </a:r>
            <a:r>
              <a:rPr lang="en-US" sz="2869" spc="281">
                <a:solidFill>
                  <a:srgbClr val="231F20"/>
                </a:solidFill>
                <a:latin typeface="Noto Serif Bold"/>
              </a:rPr>
              <a:t>LDR</a:t>
            </a:r>
            <a:r>
              <a:rPr lang="en-US" sz="2869" spc="281">
                <a:solidFill>
                  <a:srgbClr val="231F20"/>
                </a:solidFill>
                <a:latin typeface="Noto Serif"/>
              </a:rPr>
              <a:t> for heartbeat counting, </a:t>
            </a:r>
            <a:r>
              <a:rPr lang="en-US" sz="2869" spc="281">
                <a:solidFill>
                  <a:srgbClr val="231F20"/>
                </a:solidFill>
                <a:latin typeface="Noto Serif Bold"/>
              </a:rPr>
              <a:t>GPS module</a:t>
            </a:r>
            <a:r>
              <a:rPr lang="en-US" sz="2869" spc="281">
                <a:solidFill>
                  <a:srgbClr val="231F20"/>
                </a:solidFill>
                <a:latin typeface="Noto Serif"/>
              </a:rPr>
              <a:t> for precise positioning, </a:t>
            </a:r>
            <a:r>
              <a:rPr lang="en-US" sz="2869" spc="281">
                <a:solidFill>
                  <a:srgbClr val="231F20"/>
                </a:solidFill>
                <a:latin typeface="Noto Serif Bold"/>
              </a:rPr>
              <a:t>push button</a:t>
            </a:r>
            <a:r>
              <a:rPr lang="en-US" sz="2869" spc="281">
                <a:solidFill>
                  <a:srgbClr val="231F20"/>
                </a:solidFill>
                <a:latin typeface="Noto Serif"/>
              </a:rPr>
              <a:t> for user-triggered actions, </a:t>
            </a:r>
            <a:r>
              <a:rPr lang="en-US" sz="2869" spc="281">
                <a:solidFill>
                  <a:srgbClr val="231F20"/>
                </a:solidFill>
                <a:latin typeface="Noto Serif Bold"/>
              </a:rPr>
              <a:t>16x2 LCD</a:t>
            </a:r>
            <a:r>
              <a:rPr lang="en-US" sz="2869" spc="281">
                <a:solidFill>
                  <a:srgbClr val="231F20"/>
                </a:solidFill>
                <a:latin typeface="Noto Serif"/>
              </a:rPr>
              <a:t> display for real-time updates, </a:t>
            </a:r>
            <a:r>
              <a:rPr lang="en-US" sz="2869" spc="281">
                <a:solidFill>
                  <a:srgbClr val="231F20"/>
                </a:solidFill>
                <a:latin typeface="Noto Serif Bold"/>
              </a:rPr>
              <a:t>I2C</a:t>
            </a:r>
            <a:r>
              <a:rPr lang="en-US" sz="2869" spc="281">
                <a:solidFill>
                  <a:srgbClr val="231F20"/>
                </a:solidFill>
                <a:latin typeface="Noto Serif"/>
              </a:rPr>
              <a:t> for efficient communication, and the </a:t>
            </a:r>
            <a:r>
              <a:rPr lang="en-US" sz="2869" spc="281">
                <a:solidFill>
                  <a:srgbClr val="231F20"/>
                </a:solidFill>
                <a:latin typeface="Noto Serif Bold"/>
              </a:rPr>
              <a:t>SIM900A GSM</a:t>
            </a:r>
            <a:r>
              <a:rPr lang="en-US" sz="2869" spc="281">
                <a:solidFill>
                  <a:srgbClr val="231F20"/>
                </a:solidFill>
                <a:latin typeface="Noto Serif"/>
              </a:rPr>
              <a:t> module for emergency alerts.</a:t>
            </a:r>
          </a:p>
          <a:p>
            <a:pPr>
              <a:lnSpc>
                <a:spcPts val="3960"/>
              </a:lnSpc>
            </a:pPr>
            <a:endParaRPr lang="en-US" sz="2869" spc="281">
              <a:solidFill>
                <a:srgbClr val="231F20"/>
              </a:solidFill>
              <a:latin typeface="Noto Serif"/>
            </a:endParaRPr>
          </a:p>
          <a:p>
            <a:pPr marL="619632" lvl="1" indent="-309816">
              <a:lnSpc>
                <a:spcPts val="3960"/>
              </a:lnSpc>
              <a:buFont typeface="Arial"/>
              <a:buChar char="•"/>
            </a:pPr>
            <a:r>
              <a:rPr lang="en-US" sz="2869" spc="281">
                <a:solidFill>
                  <a:srgbClr val="231F20"/>
                </a:solidFill>
                <a:latin typeface="Noto Serif"/>
              </a:rPr>
              <a:t>Key steps include sensor data acquisition for monitoring body temperature and heartbeat using LM35 and LDR, respectively. The push button enables user-triggered actions it can be used in case where the soldier needs to send an emergency alert to base.The </a:t>
            </a:r>
            <a:r>
              <a:rPr lang="en-US" sz="2869" spc="281">
                <a:solidFill>
                  <a:srgbClr val="231F20"/>
                </a:solidFill>
                <a:latin typeface="Noto Serif Bold"/>
              </a:rPr>
              <a:t>SIM900A GSM</a:t>
            </a:r>
            <a:r>
              <a:rPr lang="en-US" sz="2869" spc="281">
                <a:solidFill>
                  <a:srgbClr val="231F20"/>
                </a:solidFill>
                <a:latin typeface="Noto Serif"/>
              </a:rPr>
              <a:t> module facilitates communication, allowing the system to send emergency alerts via SMS. The Arduino code governs system logic.</a:t>
            </a:r>
          </a:p>
          <a:p>
            <a:pPr>
              <a:lnSpc>
                <a:spcPts val="3546"/>
              </a:lnSpc>
            </a:pPr>
            <a:endParaRPr lang="en-US" sz="2869" spc="281">
              <a:solidFill>
                <a:srgbClr val="231F20"/>
              </a:solidFill>
              <a:latin typeface="Noto Serif"/>
            </a:endParaRPr>
          </a:p>
          <a:p>
            <a:pPr marL="0" lvl="0" indent="0">
              <a:lnSpc>
                <a:spcPts val="3546"/>
              </a:lnSpc>
              <a:spcBef>
                <a:spcPct val="0"/>
              </a:spcBef>
            </a:pPr>
            <a:endParaRPr lang="en-US" sz="2869" spc="281">
              <a:solidFill>
                <a:srgbClr val="231F20"/>
              </a:solidFill>
              <a:latin typeface="Noto Serif"/>
            </a:endParaRPr>
          </a:p>
        </p:txBody>
      </p:sp>
      <p:grpSp>
        <p:nvGrpSpPr>
          <p:cNvPr id="4" name="Group 4"/>
          <p:cNvGrpSpPr/>
          <p:nvPr/>
        </p:nvGrpSpPr>
        <p:grpSpPr>
          <a:xfrm>
            <a:off x="0" y="267548"/>
            <a:ext cx="18288000" cy="2223860"/>
            <a:chOff x="0" y="0"/>
            <a:chExt cx="4816593" cy="585708"/>
          </a:xfrm>
        </p:grpSpPr>
        <p:sp>
          <p:nvSpPr>
            <p:cNvPr id="5" name="Freeform 5"/>
            <p:cNvSpPr/>
            <p:nvPr/>
          </p:nvSpPr>
          <p:spPr>
            <a:xfrm>
              <a:off x="0" y="0"/>
              <a:ext cx="4816592" cy="585708"/>
            </a:xfrm>
            <a:custGeom>
              <a:avLst/>
              <a:gdLst/>
              <a:ahLst/>
              <a:cxnLst/>
              <a:rect l="l" t="t" r="r" b="b"/>
              <a:pathLst>
                <a:path w="4816592" h="585708">
                  <a:moveTo>
                    <a:pt x="0" y="0"/>
                  </a:moveTo>
                  <a:lnTo>
                    <a:pt x="4816592" y="0"/>
                  </a:lnTo>
                  <a:lnTo>
                    <a:pt x="4816592" y="585708"/>
                  </a:lnTo>
                  <a:lnTo>
                    <a:pt x="0" y="585708"/>
                  </a:lnTo>
                  <a:close/>
                </a:path>
              </a:pathLst>
            </a:custGeom>
            <a:solidFill>
              <a:srgbClr val="1A1A1A"/>
            </a:solidFill>
          </p:spPr>
        </p:sp>
        <p:sp>
          <p:nvSpPr>
            <p:cNvPr id="6" name="TextBox 6"/>
            <p:cNvSpPr txBox="1"/>
            <p:nvPr/>
          </p:nvSpPr>
          <p:spPr>
            <a:xfrm>
              <a:off x="0" y="-19050"/>
              <a:ext cx="4816593" cy="604758"/>
            </a:xfrm>
            <a:prstGeom prst="rect">
              <a:avLst/>
            </a:prstGeom>
          </p:spPr>
          <p:txBody>
            <a:bodyPr lIns="50800" tIns="50800" rIns="50800" bIns="50800" rtlCol="0" anchor="ctr"/>
            <a:lstStyle/>
            <a:p>
              <a:pPr algn="ctr">
                <a:lnSpc>
                  <a:spcPts val="2859"/>
                </a:lnSpc>
              </a:pPr>
              <a:endParaRPr/>
            </a:p>
          </p:txBody>
        </p:sp>
      </p:grpSp>
      <p:sp>
        <p:nvSpPr>
          <p:cNvPr id="7" name="TextBox 7"/>
          <p:cNvSpPr txBox="1"/>
          <p:nvPr/>
        </p:nvSpPr>
        <p:spPr>
          <a:xfrm>
            <a:off x="4108050" y="517768"/>
            <a:ext cx="10906040" cy="1349947"/>
          </a:xfrm>
          <a:prstGeom prst="rect">
            <a:avLst/>
          </a:prstGeom>
        </p:spPr>
        <p:txBody>
          <a:bodyPr lIns="0" tIns="0" rIns="0" bIns="0" rtlCol="0" anchor="t">
            <a:spAutoFit/>
          </a:bodyPr>
          <a:lstStyle/>
          <a:p>
            <a:pPr algn="ctr">
              <a:lnSpc>
                <a:spcPts val="11082"/>
              </a:lnSpc>
            </a:pPr>
            <a:r>
              <a:rPr lang="en-US" sz="8030" spc="786">
                <a:solidFill>
                  <a:srgbClr val="FFFFFF"/>
                </a:solidFill>
                <a:latin typeface="Oswald Bold"/>
              </a:rPr>
              <a:t>METHODOLOGY</a:t>
            </a:r>
          </a:p>
        </p:txBody>
      </p:sp>
      <p:sp>
        <p:nvSpPr>
          <p:cNvPr id="8" name="Freeform 8"/>
          <p:cNvSpPr/>
          <p:nvPr/>
        </p:nvSpPr>
        <p:spPr>
          <a:xfrm>
            <a:off x="14656408" y="-4517044"/>
            <a:ext cx="7616557" cy="7815497"/>
          </a:xfrm>
          <a:custGeom>
            <a:avLst/>
            <a:gdLst/>
            <a:ahLst/>
            <a:cxnLst/>
            <a:rect l="l" t="t" r="r" b="b"/>
            <a:pathLst>
              <a:path w="7616557" h="7815497">
                <a:moveTo>
                  <a:pt x="0" y="0"/>
                </a:moveTo>
                <a:lnTo>
                  <a:pt x="7616557" y="0"/>
                </a:lnTo>
                <a:lnTo>
                  <a:pt x="7616557" y="7815496"/>
                </a:lnTo>
                <a:lnTo>
                  <a:pt x="0" y="78154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4F5"/>
        </a:solidFill>
        <a:effectLst/>
      </p:bgPr>
    </p:bg>
    <p:spTree>
      <p:nvGrpSpPr>
        <p:cNvPr id="1" name=""/>
        <p:cNvGrpSpPr/>
        <p:nvPr/>
      </p:nvGrpSpPr>
      <p:grpSpPr>
        <a:xfrm>
          <a:off x="0" y="0"/>
          <a:ext cx="0" cy="0"/>
          <a:chOff x="0" y="0"/>
          <a:chExt cx="0" cy="0"/>
        </a:xfrm>
      </p:grpSpPr>
      <p:sp>
        <p:nvSpPr>
          <p:cNvPr id="2" name="Freeform 2"/>
          <p:cNvSpPr/>
          <p:nvPr/>
        </p:nvSpPr>
        <p:spPr>
          <a:xfrm>
            <a:off x="14479722" y="-4833750"/>
            <a:ext cx="7616557" cy="7815497"/>
          </a:xfrm>
          <a:custGeom>
            <a:avLst/>
            <a:gdLst/>
            <a:ahLst/>
            <a:cxnLst/>
            <a:rect l="l" t="t" r="r" b="b"/>
            <a:pathLst>
              <a:path w="7616557" h="7815497">
                <a:moveTo>
                  <a:pt x="0" y="0"/>
                </a:moveTo>
                <a:lnTo>
                  <a:pt x="7616556" y="0"/>
                </a:lnTo>
                <a:lnTo>
                  <a:pt x="7616556" y="7815497"/>
                </a:lnTo>
                <a:lnTo>
                  <a:pt x="0" y="78154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4176364">
            <a:off x="-4393523" y="6812524"/>
            <a:ext cx="7616557" cy="7815497"/>
          </a:xfrm>
          <a:custGeom>
            <a:avLst/>
            <a:gdLst/>
            <a:ahLst/>
            <a:cxnLst/>
            <a:rect l="l" t="t" r="r" b="b"/>
            <a:pathLst>
              <a:path w="7616557" h="7815497">
                <a:moveTo>
                  <a:pt x="0" y="0"/>
                </a:moveTo>
                <a:lnTo>
                  <a:pt x="7616557" y="0"/>
                </a:lnTo>
                <a:lnTo>
                  <a:pt x="7616557" y="7815496"/>
                </a:lnTo>
                <a:lnTo>
                  <a:pt x="0" y="78154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615089" y="513827"/>
            <a:ext cx="7579107" cy="4218657"/>
          </a:xfrm>
          <a:custGeom>
            <a:avLst/>
            <a:gdLst/>
            <a:ahLst/>
            <a:cxnLst/>
            <a:rect l="l" t="t" r="r" b="b"/>
            <a:pathLst>
              <a:path w="7579107" h="4218657">
                <a:moveTo>
                  <a:pt x="0" y="0"/>
                </a:moveTo>
                <a:lnTo>
                  <a:pt x="7579107" y="0"/>
                </a:lnTo>
                <a:lnTo>
                  <a:pt x="7579107" y="4218657"/>
                </a:lnTo>
                <a:lnTo>
                  <a:pt x="0" y="4218657"/>
                </a:lnTo>
                <a:lnTo>
                  <a:pt x="0" y="0"/>
                </a:lnTo>
                <a:close/>
              </a:path>
            </a:pathLst>
          </a:custGeom>
          <a:blipFill>
            <a:blip r:embed="rId4"/>
            <a:stretch>
              <a:fillRect/>
            </a:stretch>
          </a:blipFill>
        </p:spPr>
      </p:sp>
      <p:sp>
        <p:nvSpPr>
          <p:cNvPr id="5" name="Freeform 5"/>
          <p:cNvSpPr/>
          <p:nvPr/>
        </p:nvSpPr>
        <p:spPr>
          <a:xfrm>
            <a:off x="9261989" y="2729021"/>
            <a:ext cx="7637063" cy="6431613"/>
          </a:xfrm>
          <a:custGeom>
            <a:avLst/>
            <a:gdLst/>
            <a:ahLst/>
            <a:cxnLst/>
            <a:rect l="l" t="t" r="r" b="b"/>
            <a:pathLst>
              <a:path w="7637063" h="6431613">
                <a:moveTo>
                  <a:pt x="0" y="0"/>
                </a:moveTo>
                <a:lnTo>
                  <a:pt x="7637063" y="0"/>
                </a:lnTo>
                <a:lnTo>
                  <a:pt x="7637063" y="6431613"/>
                </a:lnTo>
                <a:lnTo>
                  <a:pt x="0" y="6431613"/>
                </a:lnTo>
                <a:lnTo>
                  <a:pt x="0" y="0"/>
                </a:lnTo>
                <a:close/>
              </a:path>
            </a:pathLst>
          </a:custGeom>
          <a:blipFill>
            <a:blip r:embed="rId5"/>
            <a:stretch>
              <a:fillRect/>
            </a:stretch>
          </a:blipFill>
        </p:spPr>
        <p:txBody>
          <a:bodyPr/>
          <a:lstStyle/>
          <a:p>
            <a:endParaRPr lang="en-US" dirty="0"/>
          </a:p>
        </p:txBody>
      </p:sp>
      <p:sp>
        <p:nvSpPr>
          <p:cNvPr id="6" name="TextBox 6"/>
          <p:cNvSpPr txBox="1"/>
          <p:nvPr/>
        </p:nvSpPr>
        <p:spPr>
          <a:xfrm>
            <a:off x="2552689" y="4891561"/>
            <a:ext cx="3703909" cy="513403"/>
          </a:xfrm>
          <a:prstGeom prst="rect">
            <a:avLst/>
          </a:prstGeom>
        </p:spPr>
        <p:txBody>
          <a:bodyPr lIns="0" tIns="0" rIns="0" bIns="0" rtlCol="0" anchor="t">
            <a:spAutoFit/>
          </a:bodyPr>
          <a:lstStyle/>
          <a:p>
            <a:pPr algn="ctr">
              <a:lnSpc>
                <a:spcPts val="4175"/>
              </a:lnSpc>
              <a:spcBef>
                <a:spcPct val="0"/>
              </a:spcBef>
            </a:pPr>
            <a:r>
              <a:rPr lang="en-US" sz="3479">
                <a:solidFill>
                  <a:srgbClr val="000000"/>
                </a:solidFill>
                <a:latin typeface="Oswald Bold"/>
              </a:rPr>
              <a:t>Fig.1. Block Diagram</a:t>
            </a:r>
          </a:p>
        </p:txBody>
      </p:sp>
      <p:sp>
        <p:nvSpPr>
          <p:cNvPr id="7" name="TextBox 7"/>
          <p:cNvSpPr txBox="1"/>
          <p:nvPr/>
        </p:nvSpPr>
        <p:spPr>
          <a:xfrm>
            <a:off x="10834442" y="9267825"/>
            <a:ext cx="4492156" cy="513403"/>
          </a:xfrm>
          <a:prstGeom prst="rect">
            <a:avLst/>
          </a:prstGeom>
        </p:spPr>
        <p:txBody>
          <a:bodyPr lIns="0" tIns="0" rIns="0" bIns="0" rtlCol="0" anchor="t">
            <a:spAutoFit/>
          </a:bodyPr>
          <a:lstStyle/>
          <a:p>
            <a:pPr algn="ctr">
              <a:lnSpc>
                <a:spcPts val="4175"/>
              </a:lnSpc>
              <a:spcBef>
                <a:spcPct val="0"/>
              </a:spcBef>
            </a:pPr>
            <a:r>
              <a:rPr lang="en-US" sz="3479">
                <a:solidFill>
                  <a:srgbClr val="000000"/>
                </a:solidFill>
                <a:latin typeface="Oswald Bold"/>
              </a:rPr>
              <a:t>Fig.2. Circuit Simulation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2"/>
          <p:cNvSpPr txBox="1"/>
          <p:nvPr/>
        </p:nvSpPr>
        <p:spPr>
          <a:xfrm>
            <a:off x="4756536" y="264296"/>
            <a:ext cx="7846551" cy="1395458"/>
          </a:xfrm>
          <a:prstGeom prst="rect">
            <a:avLst/>
          </a:prstGeom>
        </p:spPr>
        <p:txBody>
          <a:bodyPr lIns="0" tIns="0" rIns="0" bIns="0" rtlCol="0" anchor="t">
            <a:spAutoFit/>
          </a:bodyPr>
          <a:lstStyle/>
          <a:p>
            <a:pPr marL="0" lvl="0" indent="0" algn="ctr">
              <a:lnSpc>
                <a:spcPts val="11470"/>
              </a:lnSpc>
              <a:spcBef>
                <a:spcPct val="0"/>
              </a:spcBef>
            </a:pPr>
            <a:r>
              <a:rPr lang="en-US" sz="8311" spc="814">
                <a:solidFill>
                  <a:srgbClr val="FFFFFF"/>
                </a:solidFill>
                <a:latin typeface="Oswald Bold"/>
              </a:rPr>
              <a:t>RESULTS</a:t>
            </a:r>
          </a:p>
        </p:txBody>
      </p:sp>
      <p:sp>
        <p:nvSpPr>
          <p:cNvPr id="3" name="Freeform 3"/>
          <p:cNvSpPr/>
          <p:nvPr/>
        </p:nvSpPr>
        <p:spPr>
          <a:xfrm>
            <a:off x="-7264565" y="-8559821"/>
            <a:ext cx="12110389" cy="12426705"/>
          </a:xfrm>
          <a:custGeom>
            <a:avLst/>
            <a:gdLst/>
            <a:ahLst/>
            <a:cxnLst/>
            <a:rect l="l" t="t" r="r" b="b"/>
            <a:pathLst>
              <a:path w="12110389" h="12426705">
                <a:moveTo>
                  <a:pt x="0" y="0"/>
                </a:moveTo>
                <a:lnTo>
                  <a:pt x="12110389" y="0"/>
                </a:lnTo>
                <a:lnTo>
                  <a:pt x="12110389" y="12426705"/>
                </a:lnTo>
                <a:lnTo>
                  <a:pt x="0" y="1242670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4580833">
            <a:off x="14582906" y="6076578"/>
            <a:ext cx="9935496" cy="10195005"/>
          </a:xfrm>
          <a:custGeom>
            <a:avLst/>
            <a:gdLst/>
            <a:ahLst/>
            <a:cxnLst/>
            <a:rect l="l" t="t" r="r" b="b"/>
            <a:pathLst>
              <a:path w="9935496" h="10195005">
                <a:moveTo>
                  <a:pt x="0" y="0"/>
                </a:moveTo>
                <a:lnTo>
                  <a:pt x="9935495" y="0"/>
                </a:lnTo>
                <a:lnTo>
                  <a:pt x="9935495" y="10195004"/>
                </a:lnTo>
                <a:lnTo>
                  <a:pt x="0" y="101950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2268348" y="1720968"/>
            <a:ext cx="4976376" cy="7325886"/>
          </a:xfrm>
          <a:custGeom>
            <a:avLst/>
            <a:gdLst/>
            <a:ahLst/>
            <a:cxnLst/>
            <a:rect l="l" t="t" r="r" b="b"/>
            <a:pathLst>
              <a:path w="4976376" h="7325886">
                <a:moveTo>
                  <a:pt x="0" y="0"/>
                </a:moveTo>
                <a:lnTo>
                  <a:pt x="4976376" y="0"/>
                </a:lnTo>
                <a:lnTo>
                  <a:pt x="4976376" y="7325885"/>
                </a:lnTo>
                <a:lnTo>
                  <a:pt x="0" y="7325885"/>
                </a:lnTo>
                <a:lnTo>
                  <a:pt x="0" y="0"/>
                </a:lnTo>
                <a:close/>
              </a:path>
            </a:pathLst>
          </a:custGeom>
          <a:blipFill>
            <a:blip r:embed="rId4"/>
            <a:stretch>
              <a:fillRect r="-1887"/>
            </a:stretch>
          </a:blipFill>
        </p:spPr>
      </p:sp>
      <p:sp>
        <p:nvSpPr>
          <p:cNvPr id="6" name="Freeform 6"/>
          <p:cNvSpPr/>
          <p:nvPr/>
        </p:nvSpPr>
        <p:spPr>
          <a:xfrm>
            <a:off x="8266751" y="4126937"/>
            <a:ext cx="9554706" cy="2033126"/>
          </a:xfrm>
          <a:custGeom>
            <a:avLst/>
            <a:gdLst/>
            <a:ahLst/>
            <a:cxnLst/>
            <a:rect l="l" t="t" r="r" b="b"/>
            <a:pathLst>
              <a:path w="9554706" h="2033126">
                <a:moveTo>
                  <a:pt x="0" y="0"/>
                </a:moveTo>
                <a:lnTo>
                  <a:pt x="9554706" y="0"/>
                </a:lnTo>
                <a:lnTo>
                  <a:pt x="9554706" y="2033126"/>
                </a:lnTo>
                <a:lnTo>
                  <a:pt x="0" y="2033126"/>
                </a:lnTo>
                <a:lnTo>
                  <a:pt x="0" y="0"/>
                </a:lnTo>
                <a:close/>
              </a:path>
            </a:pathLst>
          </a:custGeom>
          <a:blipFill>
            <a:blip r:embed="rId5"/>
            <a:stretch>
              <a:fillRect b="-2232"/>
            </a:stretch>
          </a:blipFill>
        </p:spPr>
      </p:sp>
      <p:sp>
        <p:nvSpPr>
          <p:cNvPr id="7" name="TextBox 7"/>
          <p:cNvSpPr txBox="1"/>
          <p:nvPr/>
        </p:nvSpPr>
        <p:spPr>
          <a:xfrm>
            <a:off x="10563243" y="6244153"/>
            <a:ext cx="5722739" cy="481330"/>
          </a:xfrm>
          <a:prstGeom prst="rect">
            <a:avLst/>
          </a:prstGeom>
        </p:spPr>
        <p:txBody>
          <a:bodyPr lIns="0" tIns="0" rIns="0" bIns="0" rtlCol="0" anchor="t">
            <a:spAutoFit/>
          </a:bodyPr>
          <a:lstStyle/>
          <a:p>
            <a:pPr algn="ctr">
              <a:lnSpc>
                <a:spcPts val="3920"/>
              </a:lnSpc>
            </a:pPr>
            <a:r>
              <a:rPr lang="en-US" sz="2800">
                <a:solidFill>
                  <a:srgbClr val="FFFFFF"/>
                </a:solidFill>
                <a:latin typeface="Noto Serif Ethiopic"/>
              </a:rPr>
              <a:t>Fig.2.Screenshot of Serial Monitor</a:t>
            </a:r>
          </a:p>
        </p:txBody>
      </p:sp>
      <p:sp>
        <p:nvSpPr>
          <p:cNvPr id="8" name="TextBox 8"/>
          <p:cNvSpPr txBox="1"/>
          <p:nvPr/>
        </p:nvSpPr>
        <p:spPr>
          <a:xfrm>
            <a:off x="1117330" y="9050917"/>
            <a:ext cx="7456988" cy="976630"/>
          </a:xfrm>
          <a:prstGeom prst="rect">
            <a:avLst/>
          </a:prstGeom>
        </p:spPr>
        <p:txBody>
          <a:bodyPr lIns="0" tIns="0" rIns="0" bIns="0" rtlCol="0" anchor="t">
            <a:spAutoFit/>
          </a:bodyPr>
          <a:lstStyle/>
          <a:p>
            <a:pPr algn="ctr">
              <a:lnSpc>
                <a:spcPts val="3920"/>
              </a:lnSpc>
            </a:pPr>
            <a:r>
              <a:rPr lang="en-US" sz="2800">
                <a:solidFill>
                  <a:srgbClr val="FFFFFF"/>
                </a:solidFill>
                <a:latin typeface="Noto Serif Ethiopic"/>
              </a:rPr>
              <a:t>Fig.1. Message of various parameters </a:t>
            </a:r>
          </a:p>
          <a:p>
            <a:pPr algn="ctr">
              <a:lnSpc>
                <a:spcPts val="3920"/>
              </a:lnSpc>
            </a:pPr>
            <a:r>
              <a:rPr lang="en-US" sz="2800">
                <a:solidFill>
                  <a:srgbClr val="FFFFFF"/>
                </a:solidFill>
                <a:latin typeface="Noto Serif Ethiopic"/>
              </a:rPr>
              <a:t>and soldier location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4F5"/>
        </a:solidFill>
        <a:effectLst/>
      </p:bgPr>
    </p:bg>
    <p:spTree>
      <p:nvGrpSpPr>
        <p:cNvPr id="1" name=""/>
        <p:cNvGrpSpPr/>
        <p:nvPr/>
      </p:nvGrpSpPr>
      <p:grpSpPr>
        <a:xfrm>
          <a:off x="0" y="0"/>
          <a:ext cx="0" cy="0"/>
          <a:chOff x="0" y="0"/>
          <a:chExt cx="0" cy="0"/>
        </a:xfrm>
      </p:grpSpPr>
      <p:sp>
        <p:nvSpPr>
          <p:cNvPr id="2" name="Freeform 2"/>
          <p:cNvSpPr/>
          <p:nvPr/>
        </p:nvSpPr>
        <p:spPr>
          <a:xfrm rot="-4176364">
            <a:off x="-4393523" y="6812524"/>
            <a:ext cx="7616557" cy="7815497"/>
          </a:xfrm>
          <a:custGeom>
            <a:avLst/>
            <a:gdLst/>
            <a:ahLst/>
            <a:cxnLst/>
            <a:rect l="l" t="t" r="r" b="b"/>
            <a:pathLst>
              <a:path w="7616557" h="7815497">
                <a:moveTo>
                  <a:pt x="0" y="0"/>
                </a:moveTo>
                <a:lnTo>
                  <a:pt x="7616557" y="0"/>
                </a:lnTo>
                <a:lnTo>
                  <a:pt x="7616557" y="7815496"/>
                </a:lnTo>
                <a:lnTo>
                  <a:pt x="0" y="78154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703415" y="2819400"/>
            <a:ext cx="15380800" cy="6438900"/>
          </a:xfrm>
          <a:prstGeom prst="rect">
            <a:avLst/>
          </a:prstGeom>
        </p:spPr>
        <p:txBody>
          <a:bodyPr lIns="0" tIns="0" rIns="0" bIns="0" rtlCol="0" anchor="t">
            <a:spAutoFit/>
          </a:bodyPr>
          <a:lstStyle/>
          <a:p>
            <a:pPr marL="710912" lvl="1" indent="-355456" algn="just">
              <a:lnSpc>
                <a:spcPts val="3951"/>
              </a:lnSpc>
              <a:buFont typeface="Arial"/>
              <a:buChar char="•"/>
            </a:pPr>
            <a:r>
              <a:rPr lang="en-US" sz="3292">
                <a:solidFill>
                  <a:srgbClr val="231F20"/>
                </a:solidFill>
                <a:latin typeface="Noto Serif"/>
              </a:rPr>
              <a:t>Soldier Health and Position System represents a crucial advancement in military technology, offering a holistic approach to enhance the overall well-being and operational efficiency of military personnel.</a:t>
            </a:r>
          </a:p>
          <a:p>
            <a:pPr algn="just">
              <a:lnSpc>
                <a:spcPts val="3951"/>
              </a:lnSpc>
            </a:pPr>
            <a:endParaRPr lang="en-US" sz="3292">
              <a:solidFill>
                <a:srgbClr val="231F20"/>
              </a:solidFill>
              <a:latin typeface="Noto Serif"/>
            </a:endParaRPr>
          </a:p>
          <a:p>
            <a:pPr marL="710912" lvl="1" indent="-355456" algn="just">
              <a:lnSpc>
                <a:spcPts val="3951"/>
              </a:lnSpc>
              <a:buFont typeface="Arial"/>
              <a:buChar char="•"/>
            </a:pPr>
            <a:r>
              <a:rPr lang="en-US" sz="3292">
                <a:solidFill>
                  <a:srgbClr val="231F20"/>
                </a:solidFill>
                <a:latin typeface="Noto Serif"/>
              </a:rPr>
              <a:t> By seamlessly integrating real-time health monitoring and precise position tracking, this system provides commanders with invaluable insights for informed decision-making on the battlefield.</a:t>
            </a:r>
          </a:p>
          <a:p>
            <a:pPr algn="just">
              <a:lnSpc>
                <a:spcPts val="3951"/>
              </a:lnSpc>
            </a:pPr>
            <a:endParaRPr lang="en-US" sz="3292">
              <a:solidFill>
                <a:srgbClr val="231F20"/>
              </a:solidFill>
              <a:latin typeface="Noto Serif"/>
            </a:endParaRPr>
          </a:p>
          <a:p>
            <a:pPr marL="710912" lvl="1" indent="-355456" algn="just">
              <a:lnSpc>
                <a:spcPts val="3951"/>
              </a:lnSpc>
              <a:buFont typeface="Arial"/>
              <a:buChar char="•"/>
            </a:pPr>
            <a:r>
              <a:rPr lang="en-US" sz="3292">
                <a:solidFill>
                  <a:srgbClr val="231F20"/>
                </a:solidFill>
                <a:latin typeface="Noto Serif"/>
              </a:rPr>
              <a:t>The fusion of health and position data not only enables swift responses to emergencies but also contributes to optimizing strategic planning. As we navigate the complexities of modern warfare, investing in such comprehensive systems is imperative, ensuring the safety, health, and effectiveness of our armed forces in the face of evolving challenges.</a:t>
            </a:r>
          </a:p>
        </p:txBody>
      </p:sp>
      <p:grpSp>
        <p:nvGrpSpPr>
          <p:cNvPr id="4" name="Group 4"/>
          <p:cNvGrpSpPr/>
          <p:nvPr/>
        </p:nvGrpSpPr>
        <p:grpSpPr>
          <a:xfrm>
            <a:off x="0" y="132934"/>
            <a:ext cx="18288000" cy="2223860"/>
            <a:chOff x="0" y="0"/>
            <a:chExt cx="4816593" cy="585708"/>
          </a:xfrm>
        </p:grpSpPr>
        <p:sp>
          <p:nvSpPr>
            <p:cNvPr id="5" name="Freeform 5"/>
            <p:cNvSpPr/>
            <p:nvPr/>
          </p:nvSpPr>
          <p:spPr>
            <a:xfrm>
              <a:off x="0" y="0"/>
              <a:ext cx="4816592" cy="585708"/>
            </a:xfrm>
            <a:custGeom>
              <a:avLst/>
              <a:gdLst/>
              <a:ahLst/>
              <a:cxnLst/>
              <a:rect l="l" t="t" r="r" b="b"/>
              <a:pathLst>
                <a:path w="4816592" h="585708">
                  <a:moveTo>
                    <a:pt x="0" y="0"/>
                  </a:moveTo>
                  <a:lnTo>
                    <a:pt x="4816592" y="0"/>
                  </a:lnTo>
                  <a:lnTo>
                    <a:pt x="4816592" y="585708"/>
                  </a:lnTo>
                  <a:lnTo>
                    <a:pt x="0" y="585708"/>
                  </a:lnTo>
                  <a:close/>
                </a:path>
              </a:pathLst>
            </a:custGeom>
            <a:solidFill>
              <a:srgbClr val="1A1A1A"/>
            </a:solidFill>
          </p:spPr>
        </p:sp>
        <p:sp>
          <p:nvSpPr>
            <p:cNvPr id="6" name="TextBox 6"/>
            <p:cNvSpPr txBox="1"/>
            <p:nvPr/>
          </p:nvSpPr>
          <p:spPr>
            <a:xfrm>
              <a:off x="0" y="-19050"/>
              <a:ext cx="4816593" cy="604758"/>
            </a:xfrm>
            <a:prstGeom prst="rect">
              <a:avLst/>
            </a:prstGeom>
          </p:spPr>
          <p:txBody>
            <a:bodyPr lIns="50800" tIns="50800" rIns="50800" bIns="50800" rtlCol="0" anchor="ctr"/>
            <a:lstStyle/>
            <a:p>
              <a:pPr algn="ctr">
                <a:lnSpc>
                  <a:spcPts val="2859"/>
                </a:lnSpc>
              </a:pPr>
              <a:endParaRPr/>
            </a:p>
          </p:txBody>
        </p:sp>
      </p:grpSp>
      <p:sp>
        <p:nvSpPr>
          <p:cNvPr id="7" name="Freeform 7"/>
          <p:cNvSpPr/>
          <p:nvPr/>
        </p:nvSpPr>
        <p:spPr>
          <a:xfrm>
            <a:off x="14479722" y="-4903226"/>
            <a:ext cx="7616557" cy="7815497"/>
          </a:xfrm>
          <a:custGeom>
            <a:avLst/>
            <a:gdLst/>
            <a:ahLst/>
            <a:cxnLst/>
            <a:rect l="l" t="t" r="r" b="b"/>
            <a:pathLst>
              <a:path w="7616557" h="7815497">
                <a:moveTo>
                  <a:pt x="0" y="0"/>
                </a:moveTo>
                <a:lnTo>
                  <a:pt x="7616556" y="0"/>
                </a:lnTo>
                <a:lnTo>
                  <a:pt x="7616556" y="7815496"/>
                </a:lnTo>
                <a:lnTo>
                  <a:pt x="0" y="78154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6103527" y="503216"/>
            <a:ext cx="6580575" cy="1349947"/>
          </a:xfrm>
          <a:prstGeom prst="rect">
            <a:avLst/>
          </a:prstGeom>
        </p:spPr>
        <p:txBody>
          <a:bodyPr lIns="0" tIns="0" rIns="0" bIns="0" rtlCol="0" anchor="t">
            <a:spAutoFit/>
          </a:bodyPr>
          <a:lstStyle/>
          <a:p>
            <a:pPr algn="ctr">
              <a:lnSpc>
                <a:spcPts val="11082"/>
              </a:lnSpc>
            </a:pPr>
            <a:r>
              <a:rPr lang="en-US" sz="8030" spc="786">
                <a:solidFill>
                  <a:srgbClr val="FFFFFF"/>
                </a:solidFill>
                <a:latin typeface="Oswald Bold"/>
              </a:rPr>
              <a:t>CONCLUSION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4F5"/>
        </a:solidFill>
        <a:effectLst/>
      </p:bgPr>
    </p:bg>
    <p:spTree>
      <p:nvGrpSpPr>
        <p:cNvPr id="1" name=""/>
        <p:cNvGrpSpPr/>
        <p:nvPr/>
      </p:nvGrpSpPr>
      <p:grpSpPr>
        <a:xfrm>
          <a:off x="0" y="0"/>
          <a:ext cx="0" cy="0"/>
          <a:chOff x="0" y="0"/>
          <a:chExt cx="0" cy="0"/>
        </a:xfrm>
      </p:grpSpPr>
      <p:sp>
        <p:nvSpPr>
          <p:cNvPr id="2" name="TextBox 2"/>
          <p:cNvSpPr txBox="1"/>
          <p:nvPr/>
        </p:nvSpPr>
        <p:spPr>
          <a:xfrm>
            <a:off x="2335030" y="3441556"/>
            <a:ext cx="13617940" cy="3241963"/>
          </a:xfrm>
          <a:prstGeom prst="rect">
            <a:avLst/>
          </a:prstGeom>
        </p:spPr>
        <p:txBody>
          <a:bodyPr lIns="0" tIns="0" rIns="0" bIns="0" rtlCol="0" anchor="t">
            <a:spAutoFit/>
          </a:bodyPr>
          <a:lstStyle/>
          <a:p>
            <a:pPr algn="ctr">
              <a:lnSpc>
                <a:spcPts val="13015"/>
              </a:lnSpc>
            </a:pPr>
            <a:r>
              <a:rPr lang="en-US" sz="9431" spc="924">
                <a:solidFill>
                  <a:srgbClr val="231F20"/>
                </a:solidFill>
                <a:latin typeface="Oswald Bold"/>
              </a:rPr>
              <a:t>THANK YOU </a:t>
            </a:r>
          </a:p>
          <a:p>
            <a:pPr marL="0" lvl="0" indent="0" algn="ctr">
              <a:lnSpc>
                <a:spcPts val="13015"/>
              </a:lnSpc>
              <a:spcBef>
                <a:spcPct val="0"/>
              </a:spcBef>
            </a:pPr>
            <a:r>
              <a:rPr lang="en-US" sz="9431" spc="924">
                <a:solidFill>
                  <a:srgbClr val="231F20"/>
                </a:solidFill>
                <a:latin typeface="Oswald Bold"/>
              </a:rPr>
              <a:t>FOR WATCHING.</a:t>
            </a:r>
          </a:p>
        </p:txBody>
      </p:sp>
      <p:sp>
        <p:nvSpPr>
          <p:cNvPr id="3" name="Freeform 3"/>
          <p:cNvSpPr/>
          <p:nvPr/>
        </p:nvSpPr>
        <p:spPr>
          <a:xfrm>
            <a:off x="4867364" y="6597876"/>
            <a:ext cx="8041988" cy="461836"/>
          </a:xfrm>
          <a:custGeom>
            <a:avLst/>
            <a:gdLst/>
            <a:ahLst/>
            <a:cxnLst/>
            <a:rect l="l" t="t" r="r" b="b"/>
            <a:pathLst>
              <a:path w="8041988" h="461836">
                <a:moveTo>
                  <a:pt x="0" y="0"/>
                </a:moveTo>
                <a:lnTo>
                  <a:pt x="8041988" y="0"/>
                </a:lnTo>
                <a:lnTo>
                  <a:pt x="8041988" y="461836"/>
                </a:lnTo>
                <a:lnTo>
                  <a:pt x="0" y="461836"/>
                </a:lnTo>
                <a:lnTo>
                  <a:pt x="0" y="0"/>
                </a:lnTo>
                <a:close/>
              </a:path>
            </a:pathLst>
          </a:custGeom>
          <a:blipFill>
            <a:blip r:embed="rId2"/>
            <a:stretch>
              <a:fillRect t="-159502" b="-84406"/>
            </a:stretch>
          </a:blipFill>
        </p:spPr>
      </p:sp>
      <p:sp>
        <p:nvSpPr>
          <p:cNvPr id="4" name="Freeform 4"/>
          <p:cNvSpPr/>
          <p:nvPr/>
        </p:nvSpPr>
        <p:spPr>
          <a:xfrm rot="161961">
            <a:off x="-8108811" y="-6797757"/>
            <a:ext cx="13977230" cy="14342307"/>
          </a:xfrm>
          <a:custGeom>
            <a:avLst/>
            <a:gdLst/>
            <a:ahLst/>
            <a:cxnLst/>
            <a:rect l="l" t="t" r="r" b="b"/>
            <a:pathLst>
              <a:path w="13977230" h="14342307">
                <a:moveTo>
                  <a:pt x="0" y="0"/>
                </a:moveTo>
                <a:lnTo>
                  <a:pt x="13977230" y="0"/>
                </a:lnTo>
                <a:lnTo>
                  <a:pt x="13977230" y="14342307"/>
                </a:lnTo>
                <a:lnTo>
                  <a:pt x="0" y="143423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887923">
            <a:off x="13677888" y="2999748"/>
            <a:ext cx="13977230" cy="14342307"/>
          </a:xfrm>
          <a:custGeom>
            <a:avLst/>
            <a:gdLst/>
            <a:ahLst/>
            <a:cxnLst/>
            <a:rect l="l" t="t" r="r" b="b"/>
            <a:pathLst>
              <a:path w="13977230" h="14342307">
                <a:moveTo>
                  <a:pt x="0" y="0"/>
                </a:moveTo>
                <a:lnTo>
                  <a:pt x="13977230" y="0"/>
                </a:lnTo>
                <a:lnTo>
                  <a:pt x="13977230" y="14342307"/>
                </a:lnTo>
                <a:lnTo>
                  <a:pt x="0" y="143423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505</Words>
  <Application>Microsoft Office PowerPoint</Application>
  <PresentationFormat>Custom</PresentationFormat>
  <Paragraphs>50</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Noto Serif</vt:lpstr>
      <vt:lpstr>Noto Serif Ethiopic</vt:lpstr>
      <vt:lpstr>Noto Serif Bold</vt:lpstr>
      <vt:lpstr>Arial</vt:lpstr>
      <vt:lpstr>Oswald Bold</vt:lpstr>
      <vt:lpstr>Calibri</vt:lpstr>
      <vt:lpstr>Montserrat Classic Bold</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Soilder health and Position Monitoring System</dc:title>
  <dc:creator>Nikhil</dc:creator>
  <cp:lastModifiedBy>Nikhil Yeware</cp:lastModifiedBy>
  <cp:revision>2</cp:revision>
  <dcterms:created xsi:type="dcterms:W3CDTF">2006-08-16T00:00:00Z</dcterms:created>
  <dcterms:modified xsi:type="dcterms:W3CDTF">2026-01-30T04:43:33Z</dcterms:modified>
  <dc:identifier>DAFzaEE8XsY</dc:identifier>
</cp:coreProperties>
</file>